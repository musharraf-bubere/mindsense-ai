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53.png"/><Relationship Id="rId3" Type="http://schemas.openxmlformats.org/officeDocument/2006/relationships/image" Target="../media/image34.png"/><Relationship Id="rId7" Type="http://schemas.openxmlformats.org/officeDocument/2006/relationships/image" Target="../media/image48.png"/><Relationship Id="rId12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1.png"/><Relationship Id="rId5" Type="http://schemas.openxmlformats.org/officeDocument/2006/relationships/image" Target="../media/image46.png"/><Relationship Id="rId10" Type="http://schemas.openxmlformats.org/officeDocument/2006/relationships/image" Target="../media/image50.png"/><Relationship Id="rId4" Type="http://schemas.openxmlformats.org/officeDocument/2006/relationships/image" Target="../media/image45.png"/><Relationship Id="rId9" Type="http://schemas.openxmlformats.org/officeDocument/2006/relationships/image" Target="../media/image4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62.png"/><Relationship Id="rId3" Type="http://schemas.openxmlformats.org/officeDocument/2006/relationships/image" Target="../media/image34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71.png"/><Relationship Id="rId3" Type="http://schemas.openxmlformats.org/officeDocument/2006/relationships/image" Target="../media/image34.png"/><Relationship Id="rId7" Type="http://schemas.openxmlformats.org/officeDocument/2006/relationships/image" Target="../media/image66.png"/><Relationship Id="rId12" Type="http://schemas.openxmlformats.org/officeDocument/2006/relationships/image" Target="../media/image7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11" Type="http://schemas.openxmlformats.org/officeDocument/2006/relationships/image" Target="../media/image69.png"/><Relationship Id="rId5" Type="http://schemas.openxmlformats.org/officeDocument/2006/relationships/image" Target="../media/image64.png"/><Relationship Id="rId10" Type="http://schemas.openxmlformats.org/officeDocument/2006/relationships/image" Target="../media/image68.png"/><Relationship Id="rId4" Type="http://schemas.openxmlformats.org/officeDocument/2006/relationships/image" Target="../media/image63.png"/><Relationship Id="rId9" Type="http://schemas.openxmlformats.org/officeDocument/2006/relationships/image" Target="../media/image6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80.png"/><Relationship Id="rId3" Type="http://schemas.openxmlformats.org/officeDocument/2006/relationships/image" Target="../media/image34.png"/><Relationship Id="rId7" Type="http://schemas.openxmlformats.org/officeDocument/2006/relationships/image" Target="../media/image75.png"/><Relationship Id="rId12" Type="http://schemas.openxmlformats.org/officeDocument/2006/relationships/image" Target="../media/image7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11" Type="http://schemas.openxmlformats.org/officeDocument/2006/relationships/image" Target="../media/image78.png"/><Relationship Id="rId5" Type="http://schemas.openxmlformats.org/officeDocument/2006/relationships/image" Target="../media/image73.png"/><Relationship Id="rId10" Type="http://schemas.openxmlformats.org/officeDocument/2006/relationships/image" Target="../media/image77.png"/><Relationship Id="rId4" Type="http://schemas.openxmlformats.org/officeDocument/2006/relationships/image" Target="../media/image72.png"/><Relationship Id="rId9" Type="http://schemas.openxmlformats.org/officeDocument/2006/relationships/image" Target="../media/image7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89.png"/><Relationship Id="rId3" Type="http://schemas.openxmlformats.org/officeDocument/2006/relationships/image" Target="../media/image34.png"/><Relationship Id="rId7" Type="http://schemas.openxmlformats.org/officeDocument/2006/relationships/image" Target="../media/image84.png"/><Relationship Id="rId12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11" Type="http://schemas.openxmlformats.org/officeDocument/2006/relationships/image" Target="../media/image87.png"/><Relationship Id="rId5" Type="http://schemas.openxmlformats.org/officeDocument/2006/relationships/image" Target="../media/image82.png"/><Relationship Id="rId10" Type="http://schemas.openxmlformats.org/officeDocument/2006/relationships/image" Target="../media/image86.png"/><Relationship Id="rId4" Type="http://schemas.openxmlformats.org/officeDocument/2006/relationships/image" Target="../media/image81.png"/><Relationship Id="rId9" Type="http://schemas.openxmlformats.org/officeDocument/2006/relationships/image" Target="../media/image8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9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150" y="3918495"/>
            <a:ext cx="3695700" cy="11010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85686" y="1838325"/>
            <a:ext cx="5020627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000" b="1" i="0" u="none">
                <a:solidFill>
                  <a:srgbClr val="1E3A8A"/>
                </a:solidFill>
                <a:latin typeface="Space Grotesk"/>
              </a:rPr>
              <a:t>MindSense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6975" y="2905125"/>
            <a:ext cx="72580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29"/>
              </a:lnSpc>
            </a:pPr>
            <a:r>
              <a:rPr sz="1950" b="0" i="0" u="none">
                <a:solidFill>
                  <a:srgbClr val="3B82F6"/>
                </a:solidFill>
                <a:latin typeface="Plus Jakarta Sans Medium"/>
              </a:rPr>
              <a:t>AI-Powered Mental Health Risk Prediction using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15550" y="6353175"/>
            <a:ext cx="13144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48150" y="4174873"/>
            <a:ext cx="3590925" cy="2488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GB" sz="1100" b="1" dirty="0"/>
              <a:t>Developed During Internship at Digital Ipsum Ltd.</a:t>
            </a:r>
            <a:endParaRPr sz="1100" b="1" i="0" u="none" dirty="0">
              <a:solidFill>
                <a:srgbClr val="64748B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38675" y="4507110"/>
            <a:ext cx="29146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Plus Jakarta Sans SemiBold"/>
              </a:rPr>
              <a:t>Presented by Musharraf Bubere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571500"/>
            <a:ext cx="48006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Agenda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95700" y="6353175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21288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Introduction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26241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System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31194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Existing vs Proposed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6147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Technology Stack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1100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Machine Learning &amp; XAI (SHAP)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46053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Project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5100637"/>
            <a:ext cx="30765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Challenges &amp; Future Scope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47887"/>
            <a:ext cx="171450" cy="2000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43187"/>
            <a:ext cx="171450" cy="2000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38487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633787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29087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624387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119687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49735"/>
            <a:ext cx="3352800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0" y="2649735"/>
            <a:ext cx="3352800" cy="3476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2649735"/>
            <a:ext cx="3352800" cy="3476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33500" y="1598414"/>
            <a:ext cx="9525000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MindSense AI is an intelligent, web-based platform designed to predict mental health risks using Machine Learning while providing transparent explanations through Explainable AI (SHAP).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7450" y="6353175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03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6325" y="3040260"/>
            <a:ext cx="609600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6325" y="3878460"/>
            <a:ext cx="286035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40AF"/>
                </a:solidFill>
                <a:latin typeface="Space Grotesk SemiBold"/>
              </a:rPr>
              <a:t>AI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373760"/>
            <a:ext cx="27241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Utilizes Logistic Regression algorithms to accurately assess mental health risk levels based on user data.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3925" y="3040260"/>
            <a:ext cx="609600" cy="609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33925" y="3878460"/>
            <a:ext cx="286035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40AF"/>
                </a:solidFill>
                <a:latin typeface="Space Grotesk SemiBold"/>
              </a:rPr>
              <a:t>SHAP Explanations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3925" y="4373760"/>
            <a:ext cx="27241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Demystifies AI decisions by showing exactly which factors contributed to a specific risk prediction.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3040260"/>
            <a:ext cx="609600" cy="609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91525" y="3878460"/>
            <a:ext cx="286035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40AF"/>
                </a:solidFill>
                <a:latin typeface="Space Grotesk SemiBold"/>
              </a:rPr>
              <a:t>Actionable Insights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4373760"/>
            <a:ext cx="272415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Generates personalized recommendations, interactive dashboard analytics, and downloadable PDF reports.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775" y="3211710"/>
            <a:ext cx="266700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5375" y="3211710"/>
            <a:ext cx="266700" cy="2667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96312" y="3211710"/>
            <a:ext cx="200025" cy="2667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Introduction to MindSense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67925" y="6353175"/>
            <a:ext cx="13620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728787"/>
            <a:ext cx="488061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EF4444"/>
                </a:solidFill>
                <a:latin typeface="Space Grotesk SemiBold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224087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Traditional mental health assessments are often manual, time-consuming, and lack system-level transparency (the "Black Box" problem).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519487"/>
            <a:ext cx="488061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100" b="0" i="0" u="none">
                <a:solidFill>
                  <a:srgbClr val="10B981"/>
                </a:solidFill>
                <a:latin typeface="Space Grotesk SemiBold"/>
              </a:rPr>
              <a:t>Core Objectives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766887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557587"/>
            <a:ext cx="2667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04900" y="4014787"/>
            <a:ext cx="4686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Deliver instant risk predictions.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4510087"/>
            <a:ext cx="4686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Explain predictions clearly using SHAP.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" y="5005387"/>
            <a:ext cx="4686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Generate tailored wellness recommendations.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" y="5500687"/>
            <a:ext cx="46863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Provide interactive dashboard visualization.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728787"/>
            <a:ext cx="5029200" cy="400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Problem Statement &amp; Objectives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033837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29137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024437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5519737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38275"/>
            <a:ext cx="5143500" cy="4848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38275"/>
            <a:ext cx="5143500" cy="4848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7450" y="6353175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1933575"/>
            <a:ext cx="442055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Space Grotesk SemiBold"/>
              </a:rPr>
              <a:t>Existing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3225" y="1933575"/>
            <a:ext cx="442055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Space Grotesk SemiBold"/>
              </a:rPr>
              <a:t>Proposed MindSense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1625" y="26193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Highly manual processes requiring extensive intervention.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1625" y="34194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Slow turnaround times for generating assessments.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42195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"Black box" results with no explanation of logic.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50196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Lack of dynamic, interactive progress tracking.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96125" y="26193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Automated AI predictions for immediate triage.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96125" y="341947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Fast, highly optimized risk calculation.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96125" y="39147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Clear SHAP explanations demystifying the model.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96125" y="471487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Interactive dashboards for continuous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System Comparison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2638425"/>
            <a:ext cx="14287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3438525"/>
            <a:ext cx="142875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4238625"/>
            <a:ext cx="14287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5038725"/>
            <a:ext cx="14287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2638425"/>
            <a:ext cx="1714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3438525"/>
            <a:ext cx="1714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3933825"/>
            <a:ext cx="1714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4733925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7450" y="6353175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047875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067050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086225"/>
            <a:ext cx="3048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47875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3067050"/>
            <a:ext cx="3048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391025"/>
            <a:ext cx="304800" cy="30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675" y="2133600"/>
            <a:ext cx="17145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2028825"/>
            <a:ext cx="4552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Frontend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371725"/>
            <a:ext cx="4552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HTML, CSS, Bootstrap, JavaScript for responsive UI.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3152775"/>
            <a:ext cx="114300" cy="133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19200" y="3048000"/>
            <a:ext cx="4495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Backend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3390900"/>
            <a:ext cx="44958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Built robustly on Python using the Flask framework.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4171950"/>
            <a:ext cx="114300" cy="133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19200" y="4067175"/>
            <a:ext cx="4448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Database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9200" y="4410075"/>
            <a:ext cx="44481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SQLite for lightweight, secure assessment history.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525" y="2133600"/>
            <a:ext cx="133350" cy="1333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58000" y="2028825"/>
            <a:ext cx="4486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Machine Learning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71725"/>
            <a:ext cx="44862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Scikit-learn, featuring Logistic Regression models.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3152775"/>
            <a:ext cx="133350" cy="1333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0" y="3048000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Explainable AI (XAI)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390900"/>
            <a:ext cx="4572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SHAP library for comprehensive feature importance.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7000" y="4476750"/>
            <a:ext cx="152400" cy="1333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858000" y="4371975"/>
            <a:ext cx="457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1E293B"/>
                </a:solidFill>
                <a:latin typeface="Plus Jakarta Sans"/>
              </a:rPr>
              <a:t>Data Visualization &amp; Export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4714875"/>
            <a:ext cx="4572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Chart.js for interactive dashboards, ReportLab for PDFs.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Technology Stack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3156644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650" y="3156644"/>
            <a:ext cx="571500" cy="571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0" y="3156644"/>
            <a:ext cx="571500" cy="571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3850" y="3156644"/>
            <a:ext cx="571500" cy="571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7450" y="3156644"/>
            <a:ext cx="571500" cy="571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6975" y="6353175"/>
            <a:ext cx="13430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07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8250" y="3843337"/>
            <a:ext cx="97155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53728" y="3956744"/>
            <a:ext cx="1150143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Space Grotesk"/>
              </a:rPr>
              <a:t>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318694"/>
            <a:ext cx="21336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User completes multi-step health 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7340" y="3956744"/>
            <a:ext cx="95011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Space Grotesk"/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5600" y="4318694"/>
            <a:ext cx="21336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Flask app sanitizes &amp; processes input.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5937" y="3956744"/>
            <a:ext cx="100012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Space Grotesk"/>
              </a:rPr>
              <a:t>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318694"/>
            <a:ext cx="21336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ML model calculates risk probability.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9528" y="3956744"/>
            <a:ext cx="114014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Space Grotesk"/>
              </a:rPr>
              <a:t>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62800" y="4318694"/>
            <a:ext cx="21336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SHAP identifies key contributing factors.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73151" y="3956744"/>
            <a:ext cx="780097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E3A8A"/>
                </a:solidFill>
                <a:latin typeface="Space Grotesk"/>
              </a:rPr>
              <a:t>Delivery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6400" y="4318694"/>
            <a:ext cx="2133600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64748B"/>
                </a:solidFill>
                <a:latin typeface="Plus Jakarta Sans"/>
              </a:rPr>
              <a:t>Dashboard updates &amp; PDF generated.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System Workflow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7450" y="6353175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519237"/>
            <a:ext cx="5280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40AF"/>
                </a:solidFill>
                <a:latin typeface="Space Grotesk SemiBold"/>
              </a:rPr>
              <a:t>Logistic Regression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14537"/>
            <a:ext cx="5029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Utilizes binary classification optimized for clinical data metrics: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348162"/>
            <a:ext cx="528066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1E40AF"/>
                </a:solidFill>
                <a:latin typeface="Space Grotesk SemiBold"/>
              </a:rPr>
              <a:t>The SHAP Advantage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843462"/>
            <a:ext cx="5029200" cy="1219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SHAP (SHapley Additive exPlanations) breaks the "black box" by calculating the specific impact of every single feature on a given prediction, ensuring </a:t>
            </a:r>
            <a:r>
              <a:rPr sz="1500" b="1" i="0" u="none">
                <a:solidFill>
                  <a:srgbClr val="475569"/>
                </a:solidFill>
                <a:latin typeface="Plus Jakarta Sans"/>
              </a:rPr>
              <a:t>Transparency, Trust, and Interpretability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2767012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262312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Precision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4900" y="3757612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Recall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5700" y="2767012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F1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700" y="3262312"/>
            <a:ext cx="20955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ROC-AUC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19237"/>
            <a:ext cx="5029200" cy="400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Machine Learning &amp; Explainable AI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786062"/>
            <a:ext cx="171450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81362"/>
            <a:ext cx="171450" cy="2000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776662"/>
            <a:ext cx="171450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2786062"/>
            <a:ext cx="171450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800" y="3281362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04937"/>
            <a:ext cx="9525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6900" y="5834062"/>
            <a:ext cx="1895475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4775" y="5834062"/>
            <a:ext cx="1800225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7400" y="5834062"/>
            <a:ext cx="234315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950" y="5834062"/>
            <a:ext cx="1962150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7450" y="6353175"/>
            <a:ext cx="13525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09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443037"/>
            <a:ext cx="9448800" cy="411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14550" y="5991225"/>
            <a:ext cx="19050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62425" y="5991225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15050" y="5991225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10600" y="5991225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8162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Platform Demonstration: Home Page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AD2C045-13E1-94D9-F49F-89B7C9618B4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" y="1443036"/>
            <a:ext cx="9448800" cy="4105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04937"/>
            <a:ext cx="9525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8812" y="5834062"/>
            <a:ext cx="2295525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737" y="5834062"/>
            <a:ext cx="2619375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8512" y="5834062"/>
            <a:ext cx="179070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91612" y="5834062"/>
            <a:ext cx="1171575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15550" y="6353175"/>
            <a:ext cx="13144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10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443037"/>
            <a:ext cx="9448800" cy="411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6462" y="59912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4387" y="599122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96162" y="5991225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39262" y="599122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8162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Platform Demonstration: About Section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C0B769-61EA-4E45-6214-FD9DFFA6798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" y="1423987"/>
            <a:ext cx="9448800" cy="4114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04937"/>
            <a:ext cx="9525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1150" y="5834062"/>
            <a:ext cx="213360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7150" y="5834062"/>
            <a:ext cx="2114550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4100" y="5834062"/>
            <a:ext cx="2219325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5825" y="5834062"/>
            <a:ext cx="2105025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72700" y="6353175"/>
            <a:ext cx="12573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11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443037"/>
            <a:ext cx="9448800" cy="411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0" y="59912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4800" y="5991225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81750" y="5991225"/>
            <a:ext cx="219075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53475" y="5991225"/>
            <a:ext cx="1524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8162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Platform Demonstration: Assessment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DE6A189-6854-EA58-FB91-9FBFC3447B3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" y="1443037"/>
            <a:ext cx="9429750" cy="40957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04937"/>
            <a:ext cx="9525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5834062"/>
            <a:ext cx="1914525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9525" y="5834062"/>
            <a:ext cx="1905000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6925" y="5834062"/>
            <a:ext cx="203835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7675" y="5834062"/>
            <a:ext cx="2371725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600" y="6353175"/>
            <a:ext cx="1295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12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443037"/>
            <a:ext cx="9448800" cy="411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0250" y="59912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67175" y="5991225"/>
            <a:ext cx="1333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4575" y="5991225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5325" y="599122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8162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Platform Demonstration: Results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AEB3ED1-413F-6749-BB47-703E6F5F677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" y="1443036"/>
            <a:ext cx="9448800" cy="4105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04937"/>
            <a:ext cx="9525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4450" y="5834062"/>
            <a:ext cx="241935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6200" y="5834062"/>
            <a:ext cx="2438400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5834062"/>
            <a:ext cx="190500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4400" y="5834062"/>
            <a:ext cx="2343150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34600" y="6353175"/>
            <a:ext cx="1295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443037"/>
            <a:ext cx="9448800" cy="411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62100" y="5991225"/>
            <a:ext cx="1714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33850" y="5991225"/>
            <a:ext cx="219075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24650" y="5991225"/>
            <a:ext cx="19050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82050" y="599122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8162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Platform Demonstration: SHAP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33FE9D-B72D-E975-6C0B-EE11D9F5328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" y="1443036"/>
            <a:ext cx="9435642" cy="41052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1404937"/>
            <a:ext cx="9525000" cy="4191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5834062"/>
            <a:ext cx="2324100" cy="485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5834062"/>
            <a:ext cx="2238375" cy="485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8375" y="5834062"/>
            <a:ext cx="241935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0125" y="5834062"/>
            <a:ext cx="2390775" cy="485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25075" y="6353175"/>
            <a:ext cx="130492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14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1443037"/>
            <a:ext cx="9448800" cy="41148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28750" y="5991225"/>
            <a:ext cx="219075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05250" y="5991225"/>
            <a:ext cx="17145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6025" y="5991225"/>
            <a:ext cx="171450" cy="1714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867775" y="5991225"/>
            <a:ext cx="17145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2000" y="538162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Platform Demonstration: Dashboard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D9416BC-4D6F-37A0-828C-D671C60616E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71600" y="1443037"/>
            <a:ext cx="9420224" cy="4114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accent1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34600" y="6353175"/>
            <a:ext cx="1295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443037"/>
            <a:ext cx="5029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Developing a comprehensive, AI-driven mental health platform introduced several key technical and structural challenges: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900" y="26431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Data Preprocessing: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Handling and cleaning complex clinical datasets.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900" y="34432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Feature Engineering: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Optimizing variables for the Logistic Regression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" y="42433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Integrating SHAP: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Generating readable UI explanations from the ML backend.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4900" y="50434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Responsive Interface: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Building a seamless Flask UI across all devices.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43700" y="20716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Interactive Dashboard: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Mapping real-time Chart.js visuals with the SQLite database.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43700" y="28717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Report Generation: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Formatting dynamic and structured PDF exports with ReportLab.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43700" y="3671887"/>
            <a:ext cx="46863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1" i="0" u="none">
                <a:solidFill>
                  <a:srgbClr val="475569"/>
                </a:solidFill>
                <a:latin typeface="Plus Jakarta Sans"/>
              </a:rPr>
              <a:t>Testing &amp; Debugging:</a:t>
            </a:r>
            <a:r>
              <a:rPr sz="1500" b="0" i="0" u="none">
                <a:solidFill>
                  <a:srgbClr val="475569"/>
                </a:solidFill>
                <a:latin typeface="Plus Jakarta Sans"/>
              </a:rPr>
              <a:t> Ensuring high predictive accuracy and overall system stability.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150" y="5043487"/>
            <a:ext cx="952500" cy="762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Challenges Faced During Development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662237"/>
            <a:ext cx="17145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462337"/>
            <a:ext cx="17145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262437"/>
            <a:ext cx="17145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5062537"/>
            <a:ext cx="17145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090737"/>
            <a:ext cx="17145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890837"/>
            <a:ext cx="171450" cy="1809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690937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95425"/>
            <a:ext cx="5143500" cy="4733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495425"/>
            <a:ext cx="5143500" cy="47339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34600" y="6353175"/>
            <a:ext cx="129540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8725" y="1990725"/>
            <a:ext cx="4420552" cy="342900"/>
          </a:xfrm>
          <a:prstGeom prst="rect">
            <a:avLst/>
          </a:prstGeom>
          <a:noFill/>
        </p:spPr>
        <p:txBody>
          <a:bodyPr wrap="square" lIns="41910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Space Grotesk SemiBold"/>
              </a:rPr>
              <a:t>Current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53225" y="1990725"/>
            <a:ext cx="4420552" cy="342900"/>
          </a:xfrm>
          <a:prstGeom prst="rect">
            <a:avLst/>
          </a:prstGeom>
          <a:noFill/>
        </p:spPr>
        <p:txBody>
          <a:bodyPr wrap="square" lIns="38100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0F172A"/>
                </a:solidFill>
                <a:latin typeface="Space Grotesk SemiBold"/>
              </a:rPr>
              <a:t>Future Enhancements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8725" y="2028825"/>
            <a:ext cx="304800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71625" y="26765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Seamless Flask Application integration.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71625" y="317182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Successful deployment of ML &amp; SHAP models.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71625" y="39719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Interactive Dashboard &amp; PDF Generation.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1625" y="44672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Stable SQLite architecture.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71625" y="49625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Responsive, accessible User Interface.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53225" y="2028825"/>
            <a:ext cx="266700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096125" y="26765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Transitioning to Deep Learning networks.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96125" y="317182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Native Mobile App development (iOS/Android).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96125" y="3971925"/>
            <a:ext cx="3867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Specialized Doctor Dashboard for clinical review.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96125" y="47720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Cloud Deployment (AWS/Azure) with Auth.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6125" y="5267325"/>
            <a:ext cx="38671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Conversational AI Chatbot for triage.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571500"/>
            <a:ext cx="11201400" cy="58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E3A8A"/>
                </a:solidFill>
                <a:latin typeface="Space Grotesk"/>
              </a:rPr>
              <a:t>Project Evolution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725" y="2695575"/>
            <a:ext cx="171450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725" y="3190875"/>
            <a:ext cx="171450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725" y="3990975"/>
            <a:ext cx="171450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725" y="4486275"/>
            <a:ext cx="171450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8725" y="4981575"/>
            <a:ext cx="171450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2695575"/>
            <a:ext cx="171450" cy="2000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3190875"/>
            <a:ext cx="171450" cy="20002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3990975"/>
            <a:ext cx="171450" cy="20002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4791075"/>
            <a:ext cx="171450" cy="20002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3225" y="5286375"/>
            <a:ext cx="171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675" y="696366"/>
            <a:ext cx="1390650" cy="4667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095500" y="1544091"/>
            <a:ext cx="8001000" cy="175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1E3A8A"/>
                </a:solidFill>
                <a:latin typeface="Space Grotesk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5999" y="3041306"/>
            <a:ext cx="7620000" cy="18274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MindSense AI demonstrates how Machine Learning and Explainable AI can work together to create transparent, accurate, and user-friendly mental health risk assessment systems. The project combines predictive analytics with interpretable AI, helping users understand not only the prediction but also the reasoning behind it.</a:t>
            </a:r>
            <a:endParaRPr sz="1800" b="0" i="0" u="none" dirty="0">
              <a:solidFill>
                <a:schemeClr val="bg1">
                  <a:lumMod val="50000"/>
                </a:schemeClr>
              </a:solidFill>
              <a:latin typeface="Plus Jakarta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6362700"/>
            <a:ext cx="12763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Digital Ipsum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4125" y="6353175"/>
            <a:ext cx="12858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 SemiBold"/>
              </a:rPr>
              <a:t>MindSense AI </a:t>
            </a:r>
            <a:r>
              <a:rPr sz="1200" b="1" i="0" u="none">
                <a:solidFill>
                  <a:srgbClr val="1E3A8A"/>
                </a:solidFill>
                <a:latin typeface="Plus Jakarta San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7812" y="5308103"/>
            <a:ext cx="147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0F172A"/>
                </a:solidFill>
                <a:latin typeface="Plus Jakarta Sans SemiBold"/>
              </a:rPr>
              <a:t>Musharraf Bubere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57812" y="5582394"/>
            <a:ext cx="14763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64748B"/>
                </a:solidFill>
                <a:latin typeface="Plus Jakarta Sans"/>
              </a:rPr>
              <a:t>Digital Ipsum Ltd.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798</Words>
  <Application>Microsoft Office PowerPoint</Application>
  <PresentationFormat>Widescreen</PresentationFormat>
  <Paragraphs>139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Plus Jakarta Sans</vt:lpstr>
      <vt:lpstr>Plus Jakarta Sans Medium</vt:lpstr>
      <vt:lpstr>Plus Jakarta Sans SemiBold</vt:lpstr>
      <vt:lpstr>Space Grotesk</vt:lpstr>
      <vt:lpstr>Space Grotesk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Kaos Bubere</cp:lastModifiedBy>
  <cp:revision>12</cp:revision>
  <dcterms:created xsi:type="dcterms:W3CDTF">2013-01-27T09:14:16Z</dcterms:created>
  <dcterms:modified xsi:type="dcterms:W3CDTF">2026-07-27T01:47:08Z</dcterms:modified>
  <cp:category/>
</cp:coreProperties>
</file>